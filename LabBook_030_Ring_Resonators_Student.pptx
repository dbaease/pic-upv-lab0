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B70BE-D945-421A-8843-7BFE17E8B716}" v="1" dt="2026-02-03T12:25:46.7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107" d="100"/>
          <a:sy n="107" d="100"/>
        </p:scale>
        <p:origin x="121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delSld modSld">
      <pc:chgData name="Christian Camilo Cano Vasquez" userId="8c73a2a4-758b-4e34-81ed-39462e48bd92" providerId="ADAL" clId="{E6287060-0277-4BCC-9556-78F4A9113EC4}" dt="2026-02-03T12:26:13.728" v="13" actId="20577"/>
      <pc:docMkLst>
        <pc:docMk/>
      </pc:docMkLst>
      <pc:sldChg chg="modSp mod">
        <pc:chgData name="Christian Camilo Cano Vasquez" userId="8c73a2a4-758b-4e34-81ed-39462e48bd92" providerId="ADAL" clId="{E6287060-0277-4BCC-9556-78F4A9113EC4}" dt="2026-02-03T12:26:13.728" v="13" actId="20577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E6287060-0277-4BCC-9556-78F4A9113EC4}" dt="2026-02-03T12:26:13.728" v="13" actId="20577"/>
          <ac:spMkLst>
            <pc:docMk/>
            <pc:sldMk cId="560234623" sldId="289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03T12:24:53.171" v="0" actId="47"/>
        <pc:sldMkLst>
          <pc:docMk/>
          <pc:sldMk cId="3712356003" sldId="291"/>
        </pc:sldMkLst>
      </pc:sldChg>
      <pc:sldChg chg="modSp mod">
        <pc:chgData name="Christian Camilo Cano Vasquez" userId="8c73a2a4-758b-4e34-81ed-39462e48bd92" providerId="ADAL" clId="{E6287060-0277-4BCC-9556-78F4A9113EC4}" dt="2026-02-03T12:25:25.147" v="3" actId="115"/>
        <pc:sldMkLst>
          <pc:docMk/>
          <pc:sldMk cId="3660438245" sldId="293"/>
        </pc:sldMkLst>
        <pc:spChg chg="mod">
          <ac:chgData name="Christian Camilo Cano Vasquez" userId="8c73a2a4-758b-4e34-81ed-39462e48bd92" providerId="ADAL" clId="{E6287060-0277-4BCC-9556-78F4A9113EC4}" dt="2026-02-03T12:25:25.147" v="3" actId="115"/>
          <ac:spMkLst>
            <pc:docMk/>
            <pc:sldMk cId="3660438245" sldId="293"/>
            <ac:spMk id="4" creationId="{D838A93A-BFC8-0124-93CE-FDC193435A0C}"/>
          </ac:spMkLst>
        </pc:spChg>
        <pc:spChg chg="mod">
          <ac:chgData name="Christian Camilo Cano Vasquez" userId="8c73a2a4-758b-4e34-81ed-39462e48bd92" providerId="ADAL" clId="{E6287060-0277-4BCC-9556-78F4A9113EC4}" dt="2026-02-03T12:25:18.697" v="1" actId="20577"/>
          <ac:spMkLst>
            <pc:docMk/>
            <pc:sldMk cId="3660438245" sldId="293"/>
            <ac:spMk id="16" creationId="{742C31CE-19F0-B995-0997-9A2D6A879BF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hyperlink" Target="https://github.com/cccanvas-upv/pic-upv-lab0.g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7F08064-4051-AA09-31F4-D83B3DE2FF46}"/>
              </a:ext>
            </a:extLst>
          </p:cNvPr>
          <p:cNvSpPr txBox="1"/>
          <p:nvPr/>
        </p:nvSpPr>
        <p:spPr>
          <a:xfrm>
            <a:off x="2749676" y="4919853"/>
            <a:ext cx="86041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0.3. Ring </a:t>
            </a:r>
            <a:r>
              <a:rPr lang="es-ES" sz="3200" b="1" dirty="0" err="1">
                <a:latin typeface="Lucida Sans"/>
                <a:cs typeface="Lucida Sans"/>
              </a:rPr>
              <a:t>Resonator</a:t>
            </a:r>
            <a:r>
              <a:rPr lang="es-ES" sz="3200" b="1" dirty="0">
                <a:latin typeface="Lucida Sans"/>
                <a:cs typeface="Lucida Sans"/>
              </a:rPr>
              <a:t> </a:t>
            </a:r>
            <a:r>
              <a:rPr lang="es-ES" sz="3200" b="1" dirty="0" err="1">
                <a:latin typeface="Lucida Sans"/>
                <a:cs typeface="Lucida Sans"/>
              </a:rPr>
              <a:t>concepts</a:t>
            </a:r>
            <a:endParaRPr lang="es-ES" sz="3200" b="1" dirty="0">
              <a:latin typeface="Lucida Sans"/>
              <a:cs typeface="Lucida Sans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7CB91F4D-B600-B2D2-53C0-FA2CCD3EE36F}"/>
              </a:ext>
            </a:extLst>
          </p:cNvPr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591800" cy="538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br>
              <a:rPr lang="es-ES" b="0" spc="-5" dirty="0">
                <a:latin typeface="+mj-lt"/>
                <a:cs typeface="Lucida Sans"/>
              </a:rPr>
            </a:br>
            <a:br>
              <a:rPr lang="es-ES" b="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SCRIPTS AND WORKFLOW</a:t>
            </a:r>
            <a:br>
              <a:rPr lang="es-ES" b="0" spc="-5" dirty="0">
                <a:latin typeface="+mj-lt"/>
                <a:cs typeface="Lucida Sans"/>
              </a:rPr>
            </a:br>
            <a:br>
              <a:rPr lang="es-ES" b="0" spc="-5" dirty="0">
                <a:latin typeface="+mj-lt"/>
                <a:cs typeface="Lucida Sans"/>
              </a:rPr>
            </a:br>
            <a:r>
              <a:rPr lang="en-US" b="0" spc="-5" dirty="0">
                <a:latin typeface="+mj-lt"/>
                <a:cs typeface="Lucida Sans"/>
              </a:rPr>
              <a:t>1. Fork / clone the repository: </a:t>
            </a:r>
            <a:r>
              <a:rPr lang="en-US" b="0" spc="-5" dirty="0">
                <a:latin typeface="+mj-lt"/>
                <a:cs typeface="Lucida Sans"/>
                <a:hlinkClick r:id="rId2"/>
              </a:rPr>
              <a:t>https://github.com/cccanvas-upv/pic-upv-lab0.git</a:t>
            </a:r>
            <a:br>
              <a:rPr lang="en-US" b="0" spc="-5" dirty="0">
                <a:latin typeface="+mj-lt"/>
                <a:cs typeface="Lucida Sans"/>
              </a:rPr>
            </a:br>
            <a:br>
              <a:rPr lang="en-US" b="0" spc="-5" dirty="0">
                <a:latin typeface="+mj-lt"/>
                <a:cs typeface="Lucida Sans"/>
              </a:rPr>
            </a:br>
            <a:r>
              <a:rPr lang="en-US" b="0" spc="-5" dirty="0">
                <a:latin typeface="+mj-lt"/>
                <a:cs typeface="Lucida Sans"/>
              </a:rPr>
              <a:t>2. Open the repository in VS Code with WSL; run </a:t>
            </a:r>
            <a:r>
              <a:rPr lang="en-US" b="0" spc="-5" dirty="0" err="1">
                <a:latin typeface="+mj-lt"/>
                <a:cs typeface="Lucida Sans"/>
              </a:rPr>
              <a:t>uv</a:t>
            </a:r>
            <a:r>
              <a:rPr lang="en-US" b="0" spc="-5" dirty="0">
                <a:latin typeface="+mj-lt"/>
                <a:cs typeface="Lucida Sans"/>
              </a:rPr>
              <a:t> sync if needed.</a:t>
            </a:r>
            <a:br>
              <a:rPr lang="en-US" b="0" spc="-5" dirty="0">
                <a:latin typeface="+mj-lt"/>
                <a:cs typeface="Lucida Sans"/>
              </a:rPr>
            </a:br>
            <a:br>
              <a:rPr lang="en-US" b="0" spc="-5" dirty="0">
                <a:latin typeface="+mj-lt"/>
                <a:cs typeface="Lucida Sans"/>
              </a:rPr>
            </a:br>
            <a:r>
              <a:rPr lang="en-US" b="0" spc="-5" dirty="0">
                <a:latin typeface="+mj-lt"/>
                <a:cs typeface="Lucida Sans"/>
              </a:rPr>
              <a:t>3. Select the project .</a:t>
            </a:r>
            <a:r>
              <a:rPr lang="en-US" b="0" spc="-5" dirty="0" err="1">
                <a:latin typeface="+mj-lt"/>
                <a:cs typeface="Lucida Sans"/>
              </a:rPr>
              <a:t>venv</a:t>
            </a:r>
            <a:r>
              <a:rPr lang="en-US" b="0" spc="-5" dirty="0">
                <a:latin typeface="+mj-lt"/>
                <a:cs typeface="Lucida Sans"/>
              </a:rPr>
              <a:t> as your Jupyter kernel.</a:t>
            </a:r>
            <a:br>
              <a:rPr lang="en-US" b="0" spc="-5" dirty="0">
                <a:latin typeface="+mj-lt"/>
                <a:cs typeface="Lucida Sans"/>
              </a:rPr>
            </a:br>
            <a:br>
              <a:rPr lang="en-US" b="0" spc="-5" dirty="0">
                <a:latin typeface="+mj-lt"/>
                <a:cs typeface="Lucida Sans"/>
              </a:rPr>
            </a:br>
            <a:r>
              <a:rPr lang="en-US" b="0" spc="-5" dirty="0">
                <a:latin typeface="+mj-lt"/>
                <a:cs typeface="Lucida Sans"/>
              </a:rPr>
              <a:t>4. Run 030_RING_RESONATOR_Student.ipynb in sequence.</a:t>
            </a:r>
            <a:br>
              <a:rPr lang="en-US" b="0" spc="-5" dirty="0">
                <a:latin typeface="+mj-lt"/>
                <a:cs typeface="Lucida Sans"/>
              </a:rPr>
            </a:br>
            <a:br>
              <a:rPr lang="en-US" b="0" spc="-5" dirty="0">
                <a:latin typeface="+mj-lt"/>
                <a:cs typeface="Lucida Sans"/>
              </a:rPr>
            </a:br>
            <a:r>
              <a:rPr lang="en-US" b="0" spc="-5" dirty="0">
                <a:latin typeface="+mj-lt"/>
                <a:cs typeface="Lucida Sans"/>
              </a:rPr>
              <a:t>5. Paste the requested plots and fill in your results in this </a:t>
            </a:r>
            <a:r>
              <a:rPr lang="en-US" b="0" spc="-5" dirty="0" err="1">
                <a:latin typeface="+mj-lt"/>
                <a:cs typeface="Lucida Sans"/>
              </a:rPr>
              <a:t>LabBook</a:t>
            </a:r>
            <a:r>
              <a:rPr lang="en-US" b="0" spc="-5" dirty="0">
                <a:latin typeface="+mj-lt"/>
                <a:cs typeface="Lucida Sans"/>
              </a:rPr>
              <a:t>.</a:t>
            </a:r>
            <a:br>
              <a:rPr lang="en-US" b="0" spc="-5" dirty="0">
                <a:latin typeface="+mj-lt"/>
                <a:cs typeface="Lucida Sans"/>
              </a:rPr>
            </a:br>
            <a:br>
              <a:rPr lang="es-ES" b="0" spc="-5" dirty="0">
                <a:latin typeface="+mj-lt"/>
                <a:cs typeface="Lucida Sans"/>
              </a:rPr>
            </a:br>
            <a:br>
              <a:rPr lang="es-ES" b="0" spc="-5" dirty="0">
                <a:latin typeface="+mj-lt"/>
                <a:cs typeface="Lucida Sans"/>
              </a:rPr>
            </a:b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t>LAB 0.3. RING RESONATORS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365760"/>
            <a:ext cx="10927080" cy="43396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83A"/>
                </a:solidFill>
                <a:latin typeface="Arial"/>
              </a:defRPr>
            </a:pPr>
            <a:r>
              <a:rPr>
                <a:latin typeface="+mj-lt"/>
              </a:rPr>
              <a:t>LO.1 – Effective and Group Index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51560"/>
            <a:ext cx="10881360" cy="2646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Mode solver sweep: 1500–1600 nm (11 wavelengths), fundamental TE-like mode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6355080"/>
            <a:ext cx="6409944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37376"/>
            <a:ext cx="3291840" cy="219456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A6670"/>
                </a:solidFill>
                <a:latin typeface="Arial"/>
              </a:defRPr>
            </a:pPr>
            <a:r>
              <a:t>LAB 0.3. RING RESONATORS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A667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627632"/>
            <a:ext cx="5266944" cy="3090672"/>
          </a:xfrm>
          <a:prstGeom prst="rect">
            <a:avLst/>
          </a:prstGeom>
          <a:noFill/>
          <a:ln w="12700">
            <a:solidFill>
              <a:srgbClr val="C2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A6670"/>
                </a:solidFill>
              </a:defRPr>
            </a:pPr>
            <a:r>
              <a:rPr>
                <a:latin typeface="+mj-lt"/>
              </a:rPr>
              <a:t>Paste n_eff(λ) plot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4768" y="1627632"/>
            <a:ext cx="5266944" cy="3090672"/>
          </a:xfrm>
          <a:prstGeom prst="rect">
            <a:avLst/>
          </a:prstGeom>
          <a:noFill/>
          <a:ln w="12700">
            <a:solidFill>
              <a:srgbClr val="C2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A6670"/>
                </a:solidFill>
              </a:defRPr>
            </a:pPr>
            <a:r>
              <a:rPr>
                <a:latin typeface="+mj-lt"/>
              </a:rPr>
              <a:t>Paste n_g(λ) plot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910328"/>
            <a:ext cx="10515600" cy="310854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283A"/>
                </a:solidFill>
                <a:latin typeface="Arial"/>
              </a:defRPr>
            </a:pPr>
            <a:r>
              <a:rPr>
                <a:latin typeface="+mj-lt"/>
              </a:rPr>
              <a:t>At 1550 nm:     n_eff = ______________            n_g = 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376672"/>
            <a:ext cx="10607040" cy="7315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283A"/>
                </a:solidFill>
                <a:latin typeface="Arial"/>
              </a:defRPr>
            </a:pPr>
            <a:r>
              <a:t>Explain the difference between effective and group indices. Comment on their wavelength dependence.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365760"/>
            <a:ext cx="10927080" cy="43396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83A"/>
                </a:solidFill>
                <a:latin typeface="Arial"/>
              </a:defRPr>
            </a:pPr>
            <a:r>
              <a:rPr>
                <a:latin typeface="+mj-lt"/>
              </a:rPr>
              <a:t>LO.2 – Ring Resonator Spectral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51560"/>
            <a:ext cx="10881360" cy="2646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Interpolate n_eff(λ), then calculate the through-port spectrum of an all-pass ring (R = 10 µm; a = y = 0.90).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6355080"/>
            <a:ext cx="6409944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37376"/>
            <a:ext cx="3291840" cy="219456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A6670"/>
                </a:solidFill>
                <a:latin typeface="Arial"/>
              </a:defRPr>
            </a:pPr>
            <a:r>
              <a:t>LAB 0.3. RING RESONATORS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A667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5193792" cy="2907792"/>
          </a:xfrm>
          <a:prstGeom prst="rect">
            <a:avLst/>
          </a:prstGeom>
          <a:noFill/>
          <a:ln w="12700">
            <a:solidFill>
              <a:srgbClr val="C2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A6670"/>
                </a:solidFill>
              </a:defRPr>
            </a:pPr>
            <a:r>
              <a:rPr>
                <a:latin typeface="+mj-lt"/>
              </a:rPr>
              <a:t>Paste n_eff interpolation plot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600200"/>
            <a:ext cx="5303520" cy="2907792"/>
          </a:xfrm>
          <a:prstGeom prst="rect">
            <a:avLst/>
          </a:prstGeom>
          <a:noFill/>
          <a:ln w="12700">
            <a:solidFill>
              <a:srgbClr val="C2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A6670"/>
                </a:solidFill>
              </a:defRPr>
            </a:pPr>
            <a:r>
              <a:rPr>
                <a:latin typeface="+mj-lt"/>
              </a:rPr>
              <a:t>Paste ring transmission spectrum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4663440"/>
            <a:ext cx="10789920" cy="5852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9283A"/>
                </a:solidFill>
                <a:latin typeface="Arial"/>
              </a:defRPr>
            </a:pPr>
            <a:r>
              <a:rPr>
                <a:latin typeface="+mj-lt"/>
              </a:rPr>
              <a:t>List the resonance wavelengths and estimate the FSR near 1550 nm.</a:t>
            </a:r>
          </a:p>
          <a:p>
            <a:pPr>
              <a:spcAft>
                <a:spcPts val="700"/>
              </a:spcAft>
              <a:defRPr sz="1400" b="0">
                <a:solidFill>
                  <a:srgbClr val="19283A"/>
                </a:solidFill>
                <a:latin typeface="Arial"/>
              </a:defRPr>
            </a:pPr>
            <a:r>
              <a:rPr>
                <a:latin typeface="+mj-lt"/>
              </a:rPr>
              <a:t>Explain why transmission reaches a minimum at resonance and approaches unity off resonance.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365760"/>
            <a:ext cx="10927080" cy="43396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83A"/>
                </a:solidFill>
                <a:latin typeface="Arial"/>
              </a:defRPr>
            </a:pPr>
            <a:r>
              <a:rPr>
                <a:latin typeface="+mj-lt"/>
              </a:rPr>
              <a:t>LO.3.1 – Influence of Coupling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51560"/>
            <a:ext cx="10881360" cy="2646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Exercise 1 · Fix R = 10 µm and a = 0.90. Compare y = 0.99, 0.90 and 0.70.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6355080"/>
            <a:ext cx="6409944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37376"/>
            <a:ext cx="3291840" cy="203133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LAB 0.3. RING RESONATORS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11480" cy="203133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81912"/>
            <a:ext cx="6629400" cy="3447288"/>
          </a:xfrm>
          <a:prstGeom prst="rect">
            <a:avLst/>
          </a:prstGeom>
          <a:noFill/>
          <a:ln w="12700">
            <a:solidFill>
              <a:srgbClr val="C2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A6670"/>
                </a:solidFill>
              </a:defRPr>
            </a:pPr>
            <a:r>
              <a:rPr>
                <a:latin typeface="+mj-lt"/>
              </a:rPr>
              <a:t>Paste the three overlaid transmission spectra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1645920"/>
          <a:ext cx="3776472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8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</a:t>
                      </a:r>
                    </a:p>
                  </a:txBody>
                  <a:tcPr marL="73152" marT="32004" marB="32004">
                    <a:solidFill>
                      <a:srgbClr val="114B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Regime</a:t>
                      </a:r>
                    </a:p>
                  </a:txBody>
                  <a:tcPr marL="73152" marT="32004" marB="32004">
                    <a:solidFill>
                      <a:srgbClr val="114B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0.99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Undercoupled</a:t>
                      </a:r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0.90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0.70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Overcoupled</a:t>
                      </a:r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07808" y="3730752"/>
            <a:ext cx="3794760" cy="664797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283A"/>
                </a:solidFill>
                <a:latin typeface="Arial"/>
              </a:defRPr>
            </a:pPr>
            <a:r>
              <a:rPr>
                <a:latin typeface="+mj-lt"/>
              </a:rPr>
              <a:t>Which condition produces the deepest dip? Why does critical coupling ideally suppress through-port transmission?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39512"/>
            <a:ext cx="10881360" cy="280077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9283A"/>
                </a:solidFill>
                <a:latin typeface="Arial"/>
              </a:defRPr>
            </a:pPr>
            <a:r>
              <a:rPr>
                <a:latin typeface="+mj-lt"/>
              </a:rPr>
              <a:t>Comments: compare resonance depth and linewidth for the three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365760"/>
            <a:ext cx="10927080" cy="43396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83A"/>
                </a:solidFill>
                <a:latin typeface="Arial"/>
              </a:defRPr>
            </a:pPr>
            <a:r>
              <a:rPr dirty="0">
                <a:latin typeface="+mj-lt"/>
              </a:rPr>
              <a:t>LO.3.1 – Influence of Optical Losses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51560"/>
            <a:ext cx="10881360" cy="2646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Exercise 2 · Fix R = 10 µm and y = 0.90. Compare a = 0.99, 0.90 and 0.75.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6355080"/>
            <a:ext cx="6409944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37376"/>
            <a:ext cx="3291840" cy="203133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LAB 0.3. RING RESONATORS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11480" cy="203133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6629400" cy="3401568"/>
          </a:xfrm>
          <a:prstGeom prst="rect">
            <a:avLst/>
          </a:prstGeom>
          <a:noFill/>
          <a:ln w="12700">
            <a:solidFill>
              <a:srgbClr val="C2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A6670"/>
                </a:solidFill>
              </a:defRPr>
            </a:pPr>
            <a:r>
              <a:rPr>
                <a:latin typeface="+mj-lt"/>
              </a:rPr>
              <a:t>Paste the three overlaid transmission spectra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014916"/>
              </p:ext>
            </p:extLst>
          </p:nvPr>
        </p:nvGraphicFramePr>
        <p:xfrm>
          <a:off x="7589520" y="1618488"/>
          <a:ext cx="376732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+mj-lt"/>
                        </a:rPr>
                        <a:t>a</a:t>
                      </a:r>
                    </a:p>
                  </a:txBody>
                  <a:tcPr marL="73152" marT="32004" marB="32004">
                    <a:solidFill>
                      <a:srgbClr val="114B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+mj-lt"/>
                        </a:rPr>
                        <a:t>Coupling regime</a:t>
                      </a:r>
                    </a:p>
                  </a:txBody>
                  <a:tcPr marL="73152" marT="32004" marB="32004">
                    <a:solidFill>
                      <a:srgbClr val="114B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j-lt"/>
                        </a:rPr>
                        <a:t>0.99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rPr>
                          <a:latin typeface="+mj-lt"/>
                        </a:rPr>
                        <a:t>Overcoupled</a:t>
                      </a:r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rPr>
                          <a:latin typeface="+mj-lt"/>
                        </a:rPr>
                        <a:t>0.90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rPr>
                          <a:latin typeface="+mj-lt"/>
                        </a:rPr>
                        <a:t>Critical</a:t>
                      </a:r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rPr>
                          <a:latin typeface="+mj-lt"/>
                        </a:rPr>
                        <a:t>0.75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+mj-lt"/>
                        </a:rPr>
                        <a:t>Undercoupled</a:t>
                      </a:r>
                      <a:endParaRPr dirty="0">
                        <a:latin typeface="+mj-lt"/>
                      </a:endParaRPr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8">
            <a:extLst>
              <a:ext uri="{FF2B5EF4-FFF2-40B4-BE49-F238E27FC236}">
                <a16:creationId xmlns:a16="http://schemas.microsoft.com/office/drawing/2014/main" id="{748E881A-1387-1BB4-01B9-CF1502F88210}"/>
              </a:ext>
            </a:extLst>
          </p:cNvPr>
          <p:cNvSpPr txBox="1"/>
          <p:nvPr/>
        </p:nvSpPr>
        <p:spPr>
          <a:xfrm>
            <a:off x="7607808" y="3730752"/>
            <a:ext cx="3749039" cy="1541961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r>
              <a:rPr lang="en-US" sz="1200" b="1" noProof="0" dirty="0">
                <a:latin typeface="+mj-lt"/>
              </a:rPr>
              <a:t>Questions:</a:t>
            </a:r>
          </a:p>
          <a:p>
            <a:pPr marL="228600" indent="-228600">
              <a:buFont typeface="+mj-lt"/>
              <a:buAutoNum type="arabicPeriod"/>
            </a:pPr>
            <a:endParaRPr lang="en-US" sz="1200" noProof="0" dirty="0"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noProof="0" dirty="0">
                <a:latin typeface="+mj-lt"/>
              </a:rPr>
              <a:t>How does increasing the propagation loss affect the resonance depth?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noProof="0" dirty="0">
                <a:latin typeface="+mj-lt"/>
              </a:rPr>
              <a:t>Which configuration satisfies the critical coupling condition?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noProof="0" dirty="0">
                <a:latin typeface="+mj-lt"/>
              </a:rPr>
              <a:t>Can increasing the internal losses produce a deeper resonance? Explain why.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365760"/>
            <a:ext cx="10927080" cy="43396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83A"/>
                </a:solidFill>
                <a:latin typeface="Arial"/>
              </a:defRPr>
            </a:pPr>
            <a:r>
              <a:rPr>
                <a:latin typeface="+mj-lt"/>
              </a:rPr>
              <a:t>LO.3.2 – Ring Radius and FSR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51560"/>
            <a:ext cx="10881360" cy="2646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Exercise 3 · Fix a = y = 0.90; compare radii R = 5, 10 and 20 µm.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6355080"/>
            <a:ext cx="6409944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37376"/>
            <a:ext cx="3291840" cy="219456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A6670"/>
                </a:solidFill>
                <a:latin typeface="Arial"/>
              </a:defRPr>
            </a:pPr>
            <a:r>
              <a:t>LAB 0.3. RING RESONATORS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A667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720840" cy="3319272"/>
          </a:xfrm>
          <a:prstGeom prst="rect">
            <a:avLst/>
          </a:prstGeom>
          <a:noFill/>
          <a:ln w="12700">
            <a:solidFill>
              <a:srgbClr val="C2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A6670"/>
                </a:solidFill>
              </a:defRPr>
            </a:pPr>
            <a:r>
              <a:rPr>
                <a:latin typeface="+mj-lt"/>
              </a:rPr>
              <a:t>Paste the three overlaid transmission spectra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80960" y="1563624"/>
          <a:ext cx="370332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 (µm)</a:t>
                      </a:r>
                    </a:p>
                  </a:txBody>
                  <a:tcPr marL="73152" marT="32004" marB="32004">
                    <a:solidFill>
                      <a:srgbClr val="114B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Sim. FSR</a:t>
                      </a:r>
                    </a:p>
                  </a:txBody>
                  <a:tcPr marL="73152" marT="32004" marB="32004">
                    <a:solidFill>
                      <a:srgbClr val="114B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Theory FSR</a:t>
                      </a:r>
                    </a:p>
                  </a:txBody>
                  <a:tcPr marL="73152" marT="32004" marB="32004">
                    <a:solidFill>
                      <a:srgbClr val="114B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56342A39-A2E6-0709-B73F-05BF86583DC7}"/>
              </a:ext>
            </a:extLst>
          </p:cNvPr>
          <p:cNvSpPr txBox="1"/>
          <p:nvPr/>
        </p:nvSpPr>
        <p:spPr>
          <a:xfrm>
            <a:off x="7620000" y="3555614"/>
            <a:ext cx="4203192" cy="135729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>
            <a:defPPr>
              <a:defRPr lang="es-ES"/>
            </a:defPPr>
            <a:lvl1pPr>
              <a:defRPr sz="1200" b="1">
                <a:latin typeface="+mj-lt"/>
              </a:defRPr>
            </a:lvl1pPr>
          </a:lstStyle>
          <a:p>
            <a:r>
              <a:rPr lang="en-US" noProof="0"/>
              <a:t>Questions:</a:t>
            </a:r>
            <a:br>
              <a:rPr lang="en-US" noProof="0"/>
            </a:br>
            <a:endParaRPr lang="en-US" b="0" noProof="0"/>
          </a:p>
          <a:p>
            <a:pPr marL="228600" indent="-228600">
              <a:buFont typeface="+mj-lt"/>
              <a:buAutoNum type="arabicPeriod"/>
            </a:pPr>
            <a:r>
              <a:rPr lang="en-US" b="0" noProof="0" dirty="0"/>
              <a:t>How does the FSR change when the ring radius increases?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noProof="0" dirty="0"/>
              <a:t>Explain physically why the FSR depends on the ring circumference.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noProof="0" dirty="0"/>
              <a:t>Why is the FSR not exactly constant across the wavelength range?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365760"/>
            <a:ext cx="10927080" cy="43396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83A"/>
                </a:solidFill>
                <a:latin typeface="Arial"/>
              </a:defRPr>
            </a:pPr>
            <a:r>
              <a:rPr>
                <a:latin typeface="+mj-lt"/>
              </a:rPr>
              <a:t>LO.3.3 – Resonance Linewidth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51560"/>
            <a:ext cx="10881360" cy="2646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Exercise 4 · Ring A: a = y = 0.90; Ring B: a = y = 0.99. Both have R = 10 µm.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6355080"/>
            <a:ext cx="6409944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37376"/>
            <a:ext cx="3291840" cy="203133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LAB 0.3. RING RESONATORS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11480" cy="203133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230368" cy="3063240"/>
          </a:xfrm>
          <a:prstGeom prst="rect">
            <a:avLst/>
          </a:prstGeom>
          <a:noFill/>
          <a:ln w="12700">
            <a:solidFill>
              <a:srgbClr val="C2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A6670"/>
                </a:solidFill>
              </a:defRPr>
            </a:pPr>
            <a:r>
              <a:rPr>
                <a:latin typeface="+mj-lt"/>
              </a:rPr>
              <a:t>Paste full spectra (1500–1600 nm)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508760"/>
            <a:ext cx="5239512" cy="3063240"/>
          </a:xfrm>
          <a:prstGeom prst="rect">
            <a:avLst/>
          </a:prstGeom>
          <a:noFill/>
          <a:ln w="12700">
            <a:solidFill>
              <a:srgbClr val="C2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A6670"/>
                </a:solidFill>
              </a:defRPr>
            </a:pPr>
            <a:r>
              <a:rPr>
                <a:latin typeface="+mj-lt"/>
              </a:rPr>
              <a:t>Paste zoom near 1550 nm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90872"/>
            <a:ext cx="10652760" cy="280077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9283A"/>
                </a:solidFill>
                <a:latin typeface="Arial"/>
              </a:defRPr>
            </a:pPr>
            <a:r>
              <a:rPr>
                <a:latin typeface="+mj-lt"/>
              </a:rPr>
              <a:t>Estimate the FWHM graphically at half the dip depth (T ≈ 0.5). No extra simulations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365760"/>
            <a:ext cx="10927080" cy="43396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283A"/>
                </a:solidFill>
                <a:latin typeface="Arial"/>
              </a:defRPr>
            </a:pPr>
            <a:r>
              <a:rPr>
                <a:latin typeface="+mj-lt"/>
              </a:rPr>
              <a:t>LO.3.3 – Finesse, Q-factor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51560"/>
            <a:ext cx="10881360" cy="2646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670"/>
                </a:solidFill>
                <a:latin typeface="Arial"/>
              </a:defRPr>
            </a:pPr>
            <a:r>
              <a:rPr dirty="0">
                <a:latin typeface="+mj-lt"/>
              </a:rPr>
              <a:t>Use the FSR from Exercise 3 and the visually estimated FWHM from Exercise 4.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6355080"/>
            <a:ext cx="6409944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37376"/>
            <a:ext cx="3291840" cy="203133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LAB 0.3. RING RESONATORS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11480" cy="203133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A6670"/>
                </a:solidFill>
                <a:latin typeface="Arial"/>
              </a:defRPr>
            </a:pPr>
            <a:r>
              <a:rPr>
                <a:latin typeface="+mj-lt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5528" y="1508760"/>
          <a:ext cx="10671048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7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7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7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 marL="73152" marT="32004" marB="32004">
                    <a:solidFill>
                      <a:srgbClr val="114B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Ring A</a:t>
                      </a:r>
                    </a:p>
                  </a:txBody>
                  <a:tcPr marL="73152" marT="32004" marB="32004">
                    <a:solidFill>
                      <a:srgbClr val="114B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Ring B</a:t>
                      </a:r>
                    </a:p>
                  </a:txBody>
                  <a:tcPr marL="73152" marT="32004" marB="32004">
                    <a:solidFill>
                      <a:srgbClr val="114B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Resonance wavelength (nm)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FSR (nm)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rPr dirty="0"/>
                        <a:t>Estimated FWHM (nm)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Finesse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r>
                        <a:t>Loaded Q-factor</a:t>
                      </a:r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L="73152" marT="32004" marB="32004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9283A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 marL="73152" marT="32004" marB="3200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4672" y="4087368"/>
            <a:ext cx="10652760" cy="1134157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283A"/>
                </a:solidFill>
                <a:latin typeface="Arial"/>
              </a:defRPr>
            </a:pPr>
            <a:r>
              <a:rPr dirty="0">
                <a:latin typeface="+mj-lt"/>
              </a:rPr>
              <a:t>Discussion</a:t>
            </a:r>
            <a:r>
              <a:rPr lang="es-ES" dirty="0">
                <a:latin typeface="+mj-lt"/>
              </a:rPr>
              <a:t>.</a:t>
            </a:r>
            <a:endParaRPr dirty="0">
              <a:latin typeface="+mj-lt"/>
            </a:endParaRPr>
          </a:p>
          <a:p>
            <a:pPr>
              <a:spcAft>
                <a:spcPts val="700"/>
              </a:spcAft>
              <a:defRPr sz="1300" b="0">
                <a:solidFill>
                  <a:srgbClr val="19283A"/>
                </a:solidFill>
                <a:latin typeface="Arial"/>
              </a:defRPr>
            </a:pPr>
            <a:r>
              <a:rPr dirty="0">
                <a:latin typeface="+mj-lt"/>
              </a:rPr>
              <a:t>1. Which ring has a narrower resonance and higher Q? Why?</a:t>
            </a:r>
          </a:p>
          <a:p>
            <a:pPr>
              <a:spcAft>
                <a:spcPts val="700"/>
              </a:spcAft>
              <a:defRPr sz="1300" b="0">
                <a:solidFill>
                  <a:srgbClr val="19283A"/>
                </a:solidFill>
                <a:latin typeface="Arial"/>
              </a:defRPr>
            </a:pPr>
            <a:r>
              <a:rPr dirty="0">
                <a:latin typeface="+mj-lt"/>
              </a:rPr>
              <a:t>2. Which is preferable for detecting small resonance shifts in sensing?</a:t>
            </a:r>
          </a:p>
          <a:p>
            <a:pPr>
              <a:spcAft>
                <a:spcPts val="700"/>
              </a:spcAft>
              <a:defRPr sz="1300" b="0">
                <a:solidFill>
                  <a:srgbClr val="19283A"/>
                </a:solidFill>
                <a:latin typeface="Arial"/>
              </a:defRPr>
            </a:pPr>
            <a:r>
              <a:rPr dirty="0">
                <a:latin typeface="+mj-lt"/>
              </a:rPr>
              <a:t>3. Is a narrower resonance always better for WDM filtering? Discuss bandwidth and stability.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863</TotalTime>
  <Words>689</Words>
  <Application>Microsoft Office PowerPoint</Application>
  <PresentationFormat>Panorámica</PresentationFormat>
  <Paragraphs>93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Lucida Sans</vt:lpstr>
      <vt:lpstr>Office Theme</vt:lpstr>
      <vt:lpstr>Presentación de PowerPoint</vt:lpstr>
      <vt:lpstr>Instructions General  SCRIPTS AND WORKFLOW  1. Fork / clone the repository: https://github.com/cccanvas-upv/pic-upv-lab0.git  2. Open the repository in VS Code with WSL; run uv sync if needed.  3. Select the project .venv as your Jupyter kernel.  4. Run 030_RING_RESONATOR_Student.ipynb in sequence.  5. Paste the requested plots and fill in your results in this LabBook. 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Gloria Mico Cabanes</cp:lastModifiedBy>
  <cp:revision>12</cp:revision>
  <dcterms:created xsi:type="dcterms:W3CDTF">2025-01-27T02:46:57Z</dcterms:created>
  <dcterms:modified xsi:type="dcterms:W3CDTF">2026-10-21T08:17:44Z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